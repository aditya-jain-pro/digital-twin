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42401fd-20fe-515e-ee67-73b3f943502f}">
          <p14:sldIdLst>
            <p14:sldId id="256"/>
          </p14:sldIdLst>
        </p14:section>
        <p14:section name="Problem" id="{3b3c570b-4031-0798-11a5-ea9edebc098e}">
          <p14:sldIdLst>
            <p14:sldId id="257"/>
            <p14:sldId id="258"/>
            <p14:sldId id="259"/>
          </p14:sldIdLst>
        </p14:section>
        <p14:section name="Solution" id="{51d48d56-cb75-89fb-cd98-1e4329df0db5}">
          <p14:sldIdLst>
            <p14:sldId id="260"/>
            <p14:sldId id="261"/>
            <p14:sldId id="262"/>
            <p14:sldId id="263"/>
          </p14:sldIdLst>
        </p14:section>
        <p14:section name="Prototype" id="{a917e124-bbc8-3fca-1f78-7e9670b53ccc}">
          <p14:sldIdLst>
            <p14:sldId id="264"/>
          </p14:sldIdLst>
        </p14:section>
        <p14:section name="Outcomes" id="{19a54e43-f288-81f5-d564-9bef0590dd76}">
          <p14:sldIdLst>
            <p14:sldId id="265"/>
            <p14:sldId id="266"/>
            <p14:sldId id="267"/>
          </p14:sldIdLst>
        </p14:section>
        <p14:section name="Data and impact" id="{1f2053f8-ac5b-8875-3eef-cf45645c9b4d}">
          <p14:sldIdLst>
            <p14:sldId id="268"/>
            <p14:sldId id="269"/>
            <p14:sldId id="270"/>
          </p14:sldIdLst>
        </p14:section>
        <p14:section name="Close" id="{625bec1f-f4d5-40a3-b0ee-cb1811bde1e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1A2B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1A2B"/>
                </a:solidFill>
                <a:latin typeface="+mn-lt"/>
              </a:rPr>
              <a:t>Readmissions caught 2–14 days ahead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HridAI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2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0.933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kg rule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2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0.584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2000" u="none">
                  <a:solidFill>
                    <a:srgbClr val="12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21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1A2B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1A2B"/>
                </a:solidFill>
                <a:latin typeface="+mn-lt"/>
              </a:rPr>
              <a:t>False alerts per patient-month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HridAI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2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kg rule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2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2000" u="none">
                  <a:solidFill>
                    <a:srgbClr val="12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21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A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A2B"/>
                </a:solidFill>
                <a:latin typeface="+mn-lt"/>
              </a:rPr>
              <a:t>What each data stream adds (readmissions caught)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Caught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2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 kg rule</c:v>
                  </c:pt>
                  <c:pt idx="1">
                    <c:v>Scale only</c:v>
                  </c:pt>
                  <c:pt idx="2">
                    <c:v>Smartwatch only</c:v>
                  </c:pt>
                  <c:pt idx="3">
                    <c:v>All sensors, no EHR</c:v>
                  </c:pt>
                  <c:pt idx="4">
                    <c:v>HridAI: all sensors + EHR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0.584</c:v>
                </c:pt>
                <c:pt idx="1">
                  <c:v>0.787</c:v>
                </c:pt>
                <c:pt idx="2">
                  <c:v>0.899</c:v>
                </c:pt>
                <c:pt idx="3">
                  <c:v>0.921</c:v>
                </c:pt>
                <c:pt idx="4">
                  <c:v>0.933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300" u="none">
                  <a:solidFill>
                    <a:srgbClr val="12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1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HridAI: a per-patient digital twin for the 30 days after a heart-failure discharge.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signal was measurable days before the crisis. The gap is that no one reads them together, against the patient's own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failure is a chronic cardiovascular condition with a heavy, younger burden in India. LINK-HF showed the warning signal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a black box per signal, HridAI estimates the one quantity they all point to: litres of excess fluid and which way it is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HridAI · Team Octas · XLRI Jamshedpur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NUTA8SNFtbnV7SRMqw45AQ" TargetMode="External"/><Relationship Id="rId4" Type="http://schemas.openxmlformats.org/officeDocument/2006/relationships/hyperlink" Target="https://claude.ai/artifact/NUTA8SNFtbnV7SRMqw45AQ" TargetMode="Externa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NUTA8SNFtbnV7SRMqw45AQ" TargetMode="External"/><Relationship Id="rId4" Type="http://schemas.openxmlformats.org/officeDocument/2006/relationships/hyperlink" Target="https://claude.ai/artifact/NUTA8SNFtbnV7SRMqw45AQ" TargetMode="External"/><Relationship Id="rId1" Type="http://schemas.openxmlformats.org/officeDocument/2006/relationships/image" Target="../media/image-16-1.png"/><Relationship Id="rId3" Type="http://schemas.openxmlformats.org/officeDocument/2006/relationships/image" Target="../media/image-16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DIGITAL TWIN CHALLENGE 2026</a:t>
            </a:r>
            <a:endParaRPr lang="en-US" sz="1400" dirty="0"/>
          </a:p>
        </p:txBody>
      </p:sp>
      <p:sp>
        <p:nvSpPr>
          <p:cNvPr id="3" name="logo circle"/>
          <p:cNvSpPr/>
          <p:nvPr/>
        </p:nvSpPr>
        <p:spPr>
          <a:xfrm>
            <a:off x="731520" y="1280160"/>
            <a:ext cx="777240" cy="777240"/>
          </a:xfrm>
          <a:prstGeom prst="ellipse">
            <a:avLst/>
          </a:prstGeom>
          <a:solidFill>
            <a:srgbClr val="C8323B"/>
          </a:solidFill>
          <a:ln w="12700">
            <a:solidFill>
              <a:srgbClr val="C8323B"/>
            </a:solidFill>
            <a:prstDash val="solid"/>
          </a:ln>
        </p:spPr>
      </p:sp>
      <p:pic>
        <p:nvPicPr>
          <p:cNvPr id="4" name="logo icon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474470"/>
            <a:ext cx="388620" cy="38862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HridAI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that sees heart failure coming.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Octas  ·  Aditya Jain  ·  PGDM (BM) 2026–28, XLRI Jamshedpur</a:t>
            </a:r>
            <a:endParaRPr lang="en-US" sz="1600" dirty="0"/>
          </a:p>
        </p:txBody>
      </p:sp>
      <p:sp>
        <p:nvSpPr>
          <p:cNvPr id="8" name="ecg 0"/>
          <p:cNvSpPr/>
          <p:nvPr/>
        </p:nvSpPr>
        <p:spPr>
          <a:xfrm>
            <a:off x="7680960" y="1737360"/>
            <a:ext cx="1097280" cy="914"/>
          </a:xfrm>
          <a:prstGeom prst="line">
            <a:avLst/>
          </a:prstGeom>
          <a:noFill/>
          <a:ln w="50800">
            <a:solidFill>
              <a:srgbClr val="C8323B"/>
            </a:solidFill>
            <a:prstDash val="solid"/>
          </a:ln>
        </p:spPr>
      </p:sp>
      <p:sp>
        <p:nvSpPr>
          <p:cNvPr id="9" name="ecg 1"/>
          <p:cNvSpPr/>
          <p:nvPr/>
        </p:nvSpPr>
        <p:spPr>
          <a:xfrm flipV="1">
            <a:off x="8778240" y="1508760"/>
            <a:ext cx="228600" cy="228600"/>
          </a:xfrm>
          <a:prstGeom prst="line">
            <a:avLst/>
          </a:prstGeom>
          <a:noFill/>
          <a:ln w="50800">
            <a:solidFill>
              <a:srgbClr val="C8323B"/>
            </a:solidFill>
            <a:prstDash val="solid"/>
          </a:ln>
        </p:spPr>
      </p:sp>
      <p:sp>
        <p:nvSpPr>
          <p:cNvPr id="10" name="ecg 2"/>
          <p:cNvSpPr/>
          <p:nvPr/>
        </p:nvSpPr>
        <p:spPr>
          <a:xfrm>
            <a:off x="9006840" y="1508760"/>
            <a:ext cx="228600" cy="548640"/>
          </a:xfrm>
          <a:prstGeom prst="line">
            <a:avLst/>
          </a:prstGeom>
          <a:noFill/>
          <a:ln w="50800">
            <a:solidFill>
              <a:srgbClr val="C8323B"/>
            </a:solidFill>
            <a:prstDash val="solid"/>
          </a:ln>
        </p:spPr>
      </p:sp>
      <p:sp>
        <p:nvSpPr>
          <p:cNvPr id="11" name="ecg 3"/>
          <p:cNvSpPr/>
          <p:nvPr/>
        </p:nvSpPr>
        <p:spPr>
          <a:xfrm flipV="1">
            <a:off x="9235440" y="914400"/>
            <a:ext cx="228600" cy="1143000"/>
          </a:xfrm>
          <a:prstGeom prst="line">
            <a:avLst/>
          </a:prstGeom>
          <a:noFill/>
          <a:ln w="50800">
            <a:solidFill>
              <a:srgbClr val="C8323B"/>
            </a:solidFill>
            <a:prstDash val="solid"/>
          </a:ln>
        </p:spPr>
      </p:sp>
      <p:sp>
        <p:nvSpPr>
          <p:cNvPr id="12" name="ecg 4"/>
          <p:cNvSpPr/>
          <p:nvPr/>
        </p:nvSpPr>
        <p:spPr>
          <a:xfrm>
            <a:off x="9464040" y="914400"/>
            <a:ext cx="228600" cy="1325880"/>
          </a:xfrm>
          <a:prstGeom prst="line">
            <a:avLst/>
          </a:prstGeom>
          <a:noFill/>
          <a:ln w="50800">
            <a:solidFill>
              <a:srgbClr val="C8323B"/>
            </a:solidFill>
            <a:prstDash val="solid"/>
          </a:ln>
        </p:spPr>
      </p:sp>
      <p:sp>
        <p:nvSpPr>
          <p:cNvPr id="13" name="ecg 5"/>
          <p:cNvSpPr/>
          <p:nvPr/>
        </p:nvSpPr>
        <p:spPr>
          <a:xfrm flipV="1">
            <a:off x="9692640" y="1737360"/>
            <a:ext cx="228600" cy="502920"/>
          </a:xfrm>
          <a:prstGeom prst="line">
            <a:avLst/>
          </a:prstGeom>
          <a:noFill/>
          <a:ln w="50800">
            <a:solidFill>
              <a:srgbClr val="C8323B"/>
            </a:solidFill>
            <a:prstDash val="solid"/>
          </a:ln>
        </p:spPr>
      </p:sp>
      <p:sp>
        <p:nvSpPr>
          <p:cNvPr id="14" name="ecg 6"/>
          <p:cNvSpPr/>
          <p:nvPr/>
        </p:nvSpPr>
        <p:spPr>
          <a:xfrm>
            <a:off x="9921240" y="1737360"/>
            <a:ext cx="1691640" cy="914"/>
          </a:xfrm>
          <a:prstGeom prst="line">
            <a:avLst/>
          </a:prstGeom>
          <a:noFill/>
          <a:ln w="50800">
            <a:solidFill>
              <a:srgbClr val="C832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Ramesh, 72, goes home after a heart-failure admission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1691640" y="3749040"/>
            <a:ext cx="9144000" cy="0"/>
          </a:xfrm>
          <a:prstGeom prst="line">
            <a:avLst/>
          </a:prstGeom>
          <a:noFill/>
          <a:ln w="76200">
            <a:solidFill>
              <a:srgbClr val="DFE3E8"/>
            </a:solidFill>
            <a:prstDash val="solid"/>
          </a:ln>
        </p:spPr>
      </p:sp>
      <p:sp>
        <p:nvSpPr>
          <p:cNvPr id="4" name="window to act"/>
          <p:cNvSpPr/>
          <p:nvPr/>
        </p:nvSpPr>
        <p:spPr>
          <a:xfrm>
            <a:off x="7543800" y="3456432"/>
            <a:ext cx="2560320" cy="585216"/>
          </a:xfrm>
          <a:prstGeom prst="roundRect">
            <a:avLst>
              <a:gd name="adj" fmla="val 1875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43800" y="345643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to act</a:t>
            </a:r>
            <a:endParaRPr lang="en-US" sz="1800" dirty="0"/>
          </a:p>
        </p:txBody>
      </p:sp>
      <p:sp>
        <p:nvSpPr>
          <p:cNvPr id="6" name="Day 0 circle"/>
          <p:cNvSpPr/>
          <p:nvPr/>
        </p:nvSpPr>
        <p:spPr>
          <a:xfrm>
            <a:off x="1188720" y="1874520"/>
            <a:ext cx="1005840" cy="100584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7" name="Day 0 icon" descr="Day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125980"/>
            <a:ext cx="502920" cy="502920"/>
          </a:xfrm>
          <a:prstGeom prst="rect">
            <a:avLst/>
          </a:prstGeom>
        </p:spPr>
      </p:pic>
      <p:sp>
        <p:nvSpPr>
          <p:cNvPr id="8" name="Day 0 stem"/>
          <p:cNvSpPr/>
          <p:nvPr/>
        </p:nvSpPr>
        <p:spPr>
          <a:xfrm>
            <a:off x="1691640" y="2880360"/>
            <a:ext cx="0" cy="566928"/>
          </a:xfrm>
          <a:prstGeom prst="line">
            <a:avLst/>
          </a:prstGeom>
          <a:noFill/>
          <a:ln w="25400">
            <a:solidFill>
              <a:srgbClr val="0F1A2B"/>
            </a:solidFill>
            <a:prstDash val="solid"/>
          </a:ln>
        </p:spPr>
      </p:sp>
      <p:sp>
        <p:nvSpPr>
          <p:cNvPr id="9" name="Day 0 dot"/>
          <p:cNvSpPr/>
          <p:nvPr/>
        </p:nvSpPr>
        <p:spPr>
          <a:xfrm>
            <a:off x="1563624" y="3621024"/>
            <a:ext cx="256032" cy="25603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72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Discharged home with a smartwatch and scale</a:t>
            </a:r>
            <a:endParaRPr lang="en-US" sz="1500" dirty="0"/>
          </a:p>
        </p:txBody>
      </p:sp>
      <p:sp>
        <p:nvSpPr>
          <p:cNvPr id="12" name="Day 9 circle"/>
          <p:cNvSpPr/>
          <p:nvPr/>
        </p:nvSpPr>
        <p:spPr>
          <a:xfrm>
            <a:off x="4480560" y="1874520"/>
            <a:ext cx="1005840" cy="1005840"/>
          </a:xfrm>
          <a:prstGeom prst="ellipse">
            <a:avLst/>
          </a:prstGeom>
          <a:solidFill>
            <a:srgbClr val="6B7684"/>
          </a:solidFill>
          <a:ln w="12700">
            <a:solidFill>
              <a:srgbClr val="6B7684"/>
            </a:solidFill>
            <a:prstDash val="solid"/>
          </a:ln>
        </p:spPr>
      </p:sp>
      <p:pic>
        <p:nvPicPr>
          <p:cNvPr id="13" name="Day 9 icon" descr="Day 9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25980"/>
            <a:ext cx="502920" cy="502920"/>
          </a:xfrm>
          <a:prstGeom prst="rect">
            <a:avLst/>
          </a:prstGeom>
        </p:spPr>
      </p:pic>
      <p:sp>
        <p:nvSpPr>
          <p:cNvPr id="14" name="Day 9 stem"/>
          <p:cNvSpPr/>
          <p:nvPr/>
        </p:nvSpPr>
        <p:spPr>
          <a:xfrm>
            <a:off x="4983480" y="2880360"/>
            <a:ext cx="0" cy="566928"/>
          </a:xfrm>
          <a:prstGeom prst="line">
            <a:avLst/>
          </a:prstGeom>
          <a:noFill/>
          <a:ln w="25400">
            <a:solidFill>
              <a:srgbClr val="6B7684"/>
            </a:solidFill>
            <a:prstDash val="solid"/>
          </a:ln>
        </p:spPr>
      </p:sp>
      <p:sp>
        <p:nvSpPr>
          <p:cNvPr id="15" name="Day 9 dot"/>
          <p:cNvSpPr/>
          <p:nvPr/>
        </p:nvSpPr>
        <p:spPr>
          <a:xfrm>
            <a:off x="4855464" y="3621024"/>
            <a:ext cx="256032" cy="256032"/>
          </a:xfrm>
          <a:prstGeom prst="ellipse">
            <a:avLst/>
          </a:prstGeom>
          <a:solidFill>
            <a:srgbClr val="6B768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88620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840480" y="4572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starts building, silently</a:t>
            </a:r>
            <a:endParaRPr lang="en-US" sz="1500" dirty="0"/>
          </a:p>
        </p:txBody>
      </p:sp>
      <p:sp>
        <p:nvSpPr>
          <p:cNvPr id="18" name="Day 16 circle"/>
          <p:cNvSpPr/>
          <p:nvPr/>
        </p:nvSpPr>
        <p:spPr>
          <a:xfrm>
            <a:off x="7040880" y="1874520"/>
            <a:ext cx="1005840" cy="10058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9" name="Day 16 icon" descr="Day 16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125980"/>
            <a:ext cx="502920" cy="502920"/>
          </a:xfrm>
          <a:prstGeom prst="rect">
            <a:avLst/>
          </a:prstGeom>
        </p:spPr>
      </p:pic>
      <p:sp>
        <p:nvSpPr>
          <p:cNvPr id="20" name="Day 16 stem"/>
          <p:cNvSpPr/>
          <p:nvPr/>
        </p:nvSpPr>
        <p:spPr>
          <a:xfrm>
            <a:off x="7543800" y="2880360"/>
            <a:ext cx="0" cy="566928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21" name="Day 16 dot"/>
          <p:cNvSpPr/>
          <p:nvPr/>
        </p:nvSpPr>
        <p:spPr>
          <a:xfrm>
            <a:off x="7415784" y="3621024"/>
            <a:ext cx="256032" cy="256032"/>
          </a:xfrm>
          <a:prstGeom prst="ellipse">
            <a:avLst/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4652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0" y="4572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HridAI alerts the cardiologist</a:t>
            </a:r>
            <a:endParaRPr lang="en-US" sz="1500" dirty="0"/>
          </a:p>
        </p:txBody>
      </p:sp>
      <p:sp>
        <p:nvSpPr>
          <p:cNvPr id="24" name="Day 23 circle"/>
          <p:cNvSpPr/>
          <p:nvPr/>
        </p:nvSpPr>
        <p:spPr>
          <a:xfrm>
            <a:off x="9601200" y="1874520"/>
            <a:ext cx="1005840" cy="1005840"/>
          </a:xfrm>
          <a:prstGeom prst="ellipse">
            <a:avLst/>
          </a:prstGeom>
          <a:solidFill>
            <a:srgbClr val="C8323B"/>
          </a:solidFill>
          <a:ln w="12700">
            <a:solidFill>
              <a:srgbClr val="C8323B"/>
            </a:solidFill>
            <a:prstDash val="solid"/>
          </a:ln>
        </p:spPr>
      </p:sp>
      <p:pic>
        <p:nvPicPr>
          <p:cNvPr id="25" name="Day 23 icon" descr="Day 2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2125980"/>
            <a:ext cx="502920" cy="502920"/>
          </a:xfrm>
          <a:prstGeom prst="rect">
            <a:avLst/>
          </a:prstGeom>
        </p:spPr>
      </p:pic>
      <p:sp>
        <p:nvSpPr>
          <p:cNvPr id="26" name="Day 23 stem"/>
          <p:cNvSpPr/>
          <p:nvPr/>
        </p:nvSpPr>
        <p:spPr>
          <a:xfrm>
            <a:off x="10104120" y="2880360"/>
            <a:ext cx="0" cy="566928"/>
          </a:xfrm>
          <a:prstGeom prst="line">
            <a:avLst/>
          </a:prstGeom>
          <a:noFill/>
          <a:ln w="25400">
            <a:solidFill>
              <a:srgbClr val="C8323B"/>
            </a:solidFill>
            <a:prstDash val="solid"/>
          </a:ln>
        </p:spPr>
      </p:sp>
      <p:sp>
        <p:nvSpPr>
          <p:cNvPr id="27" name="Day 23 dot"/>
          <p:cNvSpPr/>
          <p:nvPr/>
        </p:nvSpPr>
        <p:spPr>
          <a:xfrm>
            <a:off x="9976104" y="3621024"/>
            <a:ext cx="256032" cy="256032"/>
          </a:xfrm>
          <a:prstGeom prst="ellipse">
            <a:avLst/>
          </a:prstGeom>
          <a:solidFill>
            <a:srgbClr val="C83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00684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23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8961120" y="4572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action: back in emergency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night heart rate, HRV, breathing and sleep all shifted days earlier. Nobody was reading them together.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month after discharge is when patients come back</a:t>
            </a:r>
            <a:endParaRPr lang="en-US" sz="3200" dirty="0"/>
          </a:p>
        </p:txBody>
      </p:sp>
      <p:sp>
        <p:nvSpPr>
          <p:cNvPr id="3" name="stat card 0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4" name="Image 0" descr="died within a year of a heart-failure ad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697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in 3</a:t>
            </a:r>
            <a:endParaRPr lang="en-US" sz="5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840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died within a year of a heart-failure admission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Trivandrum Heart Failure Registry, Kerala</a:t>
            </a:r>
            <a:endParaRPr lang="en-US" sz="1100" dirty="0"/>
          </a:p>
        </p:txBody>
      </p:sp>
      <p:sp>
        <p:nvSpPr>
          <p:cNvPr id="8" name="stat card 1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9" name="Image 1" descr="younger at presentation than patients in Western registr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659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09160" y="2697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yrs</a:t>
            </a:r>
            <a:endParaRPr lang="en-US" sz="5600" dirty="0"/>
          </a:p>
        </p:txBody>
      </p:sp>
      <p:sp>
        <p:nvSpPr>
          <p:cNvPr id="11" name="Text 7"/>
          <p:cNvSpPr txBox="1"/>
          <p:nvPr/>
        </p:nvSpPr>
        <p:spPr>
          <a:xfrm>
            <a:off x="4709160" y="3840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at presentation than patients in Western registries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Trivandrum Heart Failure Registry</a:t>
            </a:r>
            <a:endParaRPr lang="en-US" sz="1100" dirty="0"/>
          </a:p>
        </p:txBody>
      </p:sp>
      <p:sp>
        <p:nvSpPr>
          <p:cNvPr id="13" name="stat card 2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4" name="Image 2" descr="median warning a wearable gave before rehospitalis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9659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697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days</a:t>
            </a:r>
            <a:endParaRPr lang="en-US" sz="5600" dirty="0"/>
          </a:p>
        </p:txBody>
      </p:sp>
      <p:sp>
        <p:nvSpPr>
          <p:cNvPr id="16" name="Text 11"/>
          <p:cNvSpPr txBox="1"/>
          <p:nvPr/>
        </p:nvSpPr>
        <p:spPr>
          <a:xfrm>
            <a:off x="8503920" y="3840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warning a wearable gave before rehospitalisation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LINK-HF study, Circ Heart Fail 2020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Today's home tool is a single weight rule</a:t>
            </a:r>
            <a:endParaRPr lang="en-US" sz="3200" dirty="0"/>
          </a:p>
        </p:txBody>
      </p:sp>
      <p:sp>
        <p:nvSpPr>
          <p:cNvPr id="3" name="rule card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9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GUIDANCE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doctor if weight rises more than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kg in 3 days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526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4617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readmissions caught in time in our test</a:t>
            </a:r>
            <a:endParaRPr lang="en-US" sz="1500" dirty="0"/>
          </a:p>
        </p:txBody>
      </p:sp>
      <p:sp>
        <p:nvSpPr>
          <p:cNvPr id="9" name="One noisy signal circle"/>
          <p:cNvSpPr/>
          <p:nvPr/>
        </p:nvSpPr>
        <p:spPr>
          <a:xfrm>
            <a:off x="6217920" y="1691640"/>
            <a:ext cx="868680" cy="868680"/>
          </a:xfrm>
          <a:prstGeom prst="ellipse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pic>
        <p:nvPicPr>
          <p:cNvPr id="10" name="Image 0" descr="One noisy sig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76" y="1911096"/>
            <a:ext cx="429768" cy="4297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0" y="1709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noisy signal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21488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weight swings by a kilo with food, clothes and scales.</a:t>
            </a:r>
            <a:endParaRPr lang="en-US" sz="1600" dirty="0"/>
          </a:p>
        </p:txBody>
      </p:sp>
      <p:sp>
        <p:nvSpPr>
          <p:cNvPr id="13" name="Often skipped circle"/>
          <p:cNvSpPr/>
          <p:nvPr/>
        </p:nvSpPr>
        <p:spPr>
          <a:xfrm>
            <a:off x="6217920" y="3154680"/>
            <a:ext cx="868680" cy="868680"/>
          </a:xfrm>
          <a:prstGeom prst="ellipse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pic>
        <p:nvPicPr>
          <p:cNvPr id="14" name="Image 1" descr="Often skipp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3374136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0" y="31729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skipped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36118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patients miss weigh-ins, so the rule never sees the rise.</a:t>
            </a:r>
            <a:endParaRPr lang="en-US" sz="1600" dirty="0"/>
          </a:p>
        </p:txBody>
      </p:sp>
      <p:sp>
        <p:nvSpPr>
          <p:cNvPr id="17" name="Ignores the rest circle"/>
          <p:cNvSpPr/>
          <p:nvPr/>
        </p:nvSpPr>
        <p:spPr>
          <a:xfrm>
            <a:off x="6217920" y="4617720"/>
            <a:ext cx="868680" cy="868680"/>
          </a:xfrm>
          <a:prstGeom prst="ellipse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pic>
        <p:nvPicPr>
          <p:cNvPr id="18" name="Image 2" descr="Ignores the re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4837176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46360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rest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0" y="50749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HRV, breathing and sleep change too, and go unread.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Every sensor sees a little of the hidden fluid</a:t>
            </a:r>
            <a:endParaRPr lang="en-US" sz="3200" dirty="0"/>
          </a:p>
        </p:txBody>
      </p:sp>
      <p:sp>
        <p:nvSpPr>
          <p:cNvPr id="3" name="Weight spoke"/>
          <p:cNvSpPr/>
          <p:nvPr/>
        </p:nvSpPr>
        <p:spPr>
          <a:xfrm flipV="1">
            <a:off x="6099048" y="1920240"/>
            <a:ext cx="914" cy="1874520"/>
          </a:xfrm>
          <a:prstGeom prst="line">
            <a:avLst/>
          </a:prstGeom>
          <a:noFill/>
          <a:ln w="25400">
            <a:solidFill>
              <a:srgbClr val="DFE3E8"/>
            </a:solidFill>
            <a:prstDash val="solid"/>
          </a:ln>
        </p:spPr>
      </p:sp>
      <p:sp>
        <p:nvSpPr>
          <p:cNvPr id="4" name="Weight circle"/>
          <p:cNvSpPr/>
          <p:nvPr/>
        </p:nvSpPr>
        <p:spPr>
          <a:xfrm>
            <a:off x="5687568" y="1508760"/>
            <a:ext cx="822960" cy="82296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5" name="Weight icon" descr="We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3308" y="17145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01968" y="1719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</a:t>
            </a:r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7" name="Night HR spoke"/>
          <p:cNvSpPr/>
          <p:nvPr/>
        </p:nvSpPr>
        <p:spPr>
          <a:xfrm flipV="1">
            <a:off x="6099048" y="2626016"/>
            <a:ext cx="3288571" cy="1168744"/>
          </a:xfrm>
          <a:prstGeom prst="line">
            <a:avLst/>
          </a:prstGeom>
          <a:noFill/>
          <a:ln w="25400">
            <a:solidFill>
              <a:srgbClr val="DFE3E8"/>
            </a:solidFill>
            <a:prstDash val="solid"/>
          </a:ln>
        </p:spPr>
      </p:sp>
      <p:sp>
        <p:nvSpPr>
          <p:cNvPr id="8" name="Night HR circle"/>
          <p:cNvSpPr/>
          <p:nvPr/>
        </p:nvSpPr>
        <p:spPr>
          <a:xfrm>
            <a:off x="8976139" y="2214536"/>
            <a:ext cx="822960" cy="8229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9" name="Night HR icon" descr="Night H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879" y="2420276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90539" y="2424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HR  </a:t>
            </a:r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11" name="HRV spoke"/>
          <p:cNvSpPr/>
          <p:nvPr/>
        </p:nvSpPr>
        <p:spPr>
          <a:xfrm>
            <a:off x="6099048" y="3794760"/>
            <a:ext cx="4100781" cy="417120"/>
          </a:xfrm>
          <a:prstGeom prst="line">
            <a:avLst/>
          </a:prstGeom>
          <a:noFill/>
          <a:ln w="25400">
            <a:solidFill>
              <a:srgbClr val="DFE3E8"/>
            </a:solidFill>
            <a:prstDash val="solid"/>
          </a:ln>
        </p:spPr>
      </p:sp>
      <p:sp>
        <p:nvSpPr>
          <p:cNvPr id="12" name="HRV circle"/>
          <p:cNvSpPr/>
          <p:nvPr/>
        </p:nvSpPr>
        <p:spPr>
          <a:xfrm>
            <a:off x="9788349" y="3800400"/>
            <a:ext cx="822960" cy="8229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3" name="HRV icon" descr="HR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089" y="40061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02749" y="4010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 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5" name="Breathing spoke"/>
          <p:cNvSpPr/>
          <p:nvPr/>
        </p:nvSpPr>
        <p:spPr>
          <a:xfrm>
            <a:off x="6099048" y="3794760"/>
            <a:ext cx="1825019" cy="1688884"/>
          </a:xfrm>
          <a:prstGeom prst="line">
            <a:avLst/>
          </a:prstGeom>
          <a:noFill/>
          <a:ln w="25400">
            <a:solidFill>
              <a:srgbClr val="DFE3E8"/>
            </a:solidFill>
            <a:prstDash val="solid"/>
          </a:ln>
        </p:spPr>
      </p:sp>
      <p:sp>
        <p:nvSpPr>
          <p:cNvPr id="16" name="Breathing circle"/>
          <p:cNvSpPr/>
          <p:nvPr/>
        </p:nvSpPr>
        <p:spPr>
          <a:xfrm>
            <a:off x="7512587" y="5072164"/>
            <a:ext cx="822960" cy="8229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7" name="Breathing icon" descr="Breath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327" y="5277904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26987" y="52824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 </a:t>
            </a:r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19" name="SpO2 spoke"/>
          <p:cNvSpPr/>
          <p:nvPr/>
        </p:nvSpPr>
        <p:spPr>
          <a:xfrm flipV="1">
            <a:off x="4274029" y="3794760"/>
            <a:ext cx="1825019" cy="1688884"/>
          </a:xfrm>
          <a:prstGeom prst="line">
            <a:avLst/>
          </a:prstGeom>
          <a:noFill/>
          <a:ln w="25400">
            <a:solidFill>
              <a:srgbClr val="DFE3E8"/>
            </a:solidFill>
            <a:prstDash val="solid"/>
          </a:ln>
        </p:spPr>
      </p:sp>
      <p:sp>
        <p:nvSpPr>
          <p:cNvPr id="20" name="SpO2 circle"/>
          <p:cNvSpPr/>
          <p:nvPr/>
        </p:nvSpPr>
        <p:spPr>
          <a:xfrm>
            <a:off x="3862549" y="5072164"/>
            <a:ext cx="822960" cy="8229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21" name="SpO2 icon" descr="SpO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8289" y="5277904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942309" y="52824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  </a:t>
            </a:r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23" name="Sleep spoke"/>
          <p:cNvSpPr/>
          <p:nvPr/>
        </p:nvSpPr>
        <p:spPr>
          <a:xfrm flipV="1">
            <a:off x="1998267" y="3794760"/>
            <a:ext cx="4100781" cy="417120"/>
          </a:xfrm>
          <a:prstGeom prst="line">
            <a:avLst/>
          </a:prstGeom>
          <a:noFill/>
          <a:ln w="25400">
            <a:solidFill>
              <a:srgbClr val="DFE3E8"/>
            </a:solidFill>
            <a:prstDash val="solid"/>
          </a:ln>
        </p:spPr>
      </p:sp>
      <p:sp>
        <p:nvSpPr>
          <p:cNvPr id="24" name="Sleep circle"/>
          <p:cNvSpPr/>
          <p:nvPr/>
        </p:nvSpPr>
        <p:spPr>
          <a:xfrm>
            <a:off x="1586787" y="3800400"/>
            <a:ext cx="822960" cy="8229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25" name="Sleep icon" descr="Slee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2527" y="40061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-333453" y="4010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 </a:t>
            </a:r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27" name="Steps spoke"/>
          <p:cNvSpPr/>
          <p:nvPr/>
        </p:nvSpPr>
        <p:spPr>
          <a:xfrm>
            <a:off x="2810477" y="2626016"/>
            <a:ext cx="3288571" cy="1168744"/>
          </a:xfrm>
          <a:prstGeom prst="line">
            <a:avLst/>
          </a:prstGeom>
          <a:noFill/>
          <a:ln w="25400">
            <a:solidFill>
              <a:srgbClr val="DFE3E8"/>
            </a:solidFill>
            <a:prstDash val="solid"/>
          </a:ln>
        </p:spPr>
      </p:sp>
      <p:sp>
        <p:nvSpPr>
          <p:cNvPr id="28" name="Steps circle"/>
          <p:cNvSpPr/>
          <p:nvPr/>
        </p:nvSpPr>
        <p:spPr>
          <a:xfrm>
            <a:off x="2398997" y="2214536"/>
            <a:ext cx="822960" cy="8229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29" name="Steps icon" descr="Step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4737" y="2420276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78757" y="2424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 </a:t>
            </a:r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31" name="hidden fluid hub"/>
          <p:cNvSpPr/>
          <p:nvPr/>
        </p:nvSpPr>
        <p:spPr>
          <a:xfrm>
            <a:off x="4956048" y="2880360"/>
            <a:ext cx="2286000" cy="1828800"/>
          </a:xfrm>
          <a:prstGeom prst="ellipse">
            <a:avLst/>
          </a:prstGeom>
          <a:solidFill>
            <a:srgbClr val="2A78D6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4956048" y="28803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fluid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litres +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twin thinks, every night</a:t>
            </a:r>
            <a:endParaRPr lang="en-US" sz="3200" dirty="0"/>
          </a:p>
        </p:txBody>
      </p:sp>
      <p:sp>
        <p:nvSpPr>
          <p:cNvPr id="3" name="Sync arrow"/>
          <p:cNvSpPr/>
          <p:nvPr/>
        </p:nvSpPr>
        <p:spPr>
          <a:xfrm>
            <a:off x="548640" y="1737360"/>
            <a:ext cx="2331720" cy="914400"/>
          </a:xfrm>
          <a:prstGeom prst="homePlate">
            <a:avLst/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900" dirty="0"/>
          </a:p>
        </p:txBody>
      </p:sp>
      <p:sp>
        <p:nvSpPr>
          <p:cNvPr id="5" name="Sync circle"/>
          <p:cNvSpPr/>
          <p:nvPr/>
        </p:nvSpPr>
        <p:spPr>
          <a:xfrm>
            <a:off x="1143000" y="3017520"/>
            <a:ext cx="914400" cy="91440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6" name="Sync icon" descr="Sy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246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0–2 learn this person's normal</a:t>
            </a:r>
            <a:endParaRPr lang="en-US" sz="1500" dirty="0"/>
          </a:p>
        </p:txBody>
      </p:sp>
      <p:sp>
        <p:nvSpPr>
          <p:cNvPr id="8" name="Personalise arrow"/>
          <p:cNvSpPr/>
          <p:nvPr/>
        </p:nvSpPr>
        <p:spPr>
          <a:xfrm>
            <a:off x="2816352" y="1737360"/>
            <a:ext cx="2331720" cy="914400"/>
          </a:xfrm>
          <a:prstGeom prst="chevron">
            <a:avLst/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27832" y="1737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</a:t>
            </a:r>
            <a:endParaRPr lang="en-US" sz="1900" dirty="0"/>
          </a:p>
        </p:txBody>
      </p:sp>
      <p:sp>
        <p:nvSpPr>
          <p:cNvPr id="10" name="Personalise circle"/>
          <p:cNvSpPr/>
          <p:nvPr/>
        </p:nvSpPr>
        <p:spPr>
          <a:xfrm>
            <a:off x="3410712" y="3017520"/>
            <a:ext cx="914400" cy="91440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1" name="Personalise icon" descr="Personali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3246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07792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record sets each signal's response</a:t>
            </a:r>
            <a:endParaRPr lang="en-US" sz="1500" dirty="0"/>
          </a:p>
        </p:txBody>
      </p:sp>
      <p:sp>
        <p:nvSpPr>
          <p:cNvPr id="13" name="Estimate arrow"/>
          <p:cNvSpPr/>
          <p:nvPr/>
        </p:nvSpPr>
        <p:spPr>
          <a:xfrm>
            <a:off x="5084064" y="1737360"/>
            <a:ext cx="2331720" cy="914400"/>
          </a:xfrm>
          <a:prstGeom prst="chevron">
            <a:avLst/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95544" y="1737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900" dirty="0"/>
          </a:p>
        </p:txBody>
      </p:sp>
      <p:sp>
        <p:nvSpPr>
          <p:cNvPr id="15" name="Estimate circle"/>
          <p:cNvSpPr/>
          <p:nvPr/>
        </p:nvSpPr>
        <p:spPr>
          <a:xfrm>
            <a:off x="5678424" y="3017520"/>
            <a:ext cx="914400" cy="91440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6" name="Estimate icon" descr="Estim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32461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75504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filter: fluid + trend ± uncertainty</a:t>
            </a:r>
            <a:endParaRPr lang="en-US" sz="1500" dirty="0"/>
          </a:p>
        </p:txBody>
      </p:sp>
      <p:sp>
        <p:nvSpPr>
          <p:cNvPr id="18" name="Forecast arrow"/>
          <p:cNvSpPr/>
          <p:nvPr/>
        </p:nvSpPr>
        <p:spPr>
          <a:xfrm>
            <a:off x="7351776" y="1737360"/>
            <a:ext cx="2331720" cy="914400"/>
          </a:xfrm>
          <a:prstGeom prst="chevron">
            <a:avLst/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763256" y="1737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900" dirty="0"/>
          </a:p>
        </p:txBody>
      </p:sp>
      <p:sp>
        <p:nvSpPr>
          <p:cNvPr id="20" name="Forecast circle"/>
          <p:cNvSpPr/>
          <p:nvPr/>
        </p:nvSpPr>
        <p:spPr>
          <a:xfrm>
            <a:off x="7946136" y="3017520"/>
            <a:ext cx="914400" cy="91440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21" name="Forecast icon" descr="Foreca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32461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43216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≥ 2 L within 5 days</a:t>
            </a:r>
            <a:endParaRPr lang="en-US" sz="1500" dirty="0"/>
          </a:p>
        </p:txBody>
      </p:sp>
      <p:sp>
        <p:nvSpPr>
          <p:cNvPr id="23" name="Act arrow"/>
          <p:cNvSpPr/>
          <p:nvPr/>
        </p:nvSpPr>
        <p:spPr>
          <a:xfrm>
            <a:off x="9619488" y="1737360"/>
            <a:ext cx="2331720" cy="914400"/>
          </a:xfrm>
          <a:prstGeom prst="chevron">
            <a:avLst/>
          </a:prstGeom>
          <a:solidFill>
            <a:srgbClr val="C83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0030968" y="1737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900" dirty="0"/>
          </a:p>
        </p:txBody>
      </p:sp>
      <p:sp>
        <p:nvSpPr>
          <p:cNvPr id="25" name="Act circle"/>
          <p:cNvSpPr/>
          <p:nvPr/>
        </p:nvSpPr>
        <p:spPr>
          <a:xfrm>
            <a:off x="10213848" y="3017520"/>
            <a:ext cx="914400" cy="91440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26" name="Act icon" descr="Ac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324612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10928" y="4069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at 60%: the doctor calls</a:t>
            </a:r>
            <a:endParaRPr lang="en-US" sz="1500" dirty="0"/>
          </a:p>
        </p:txBody>
      </p:sp>
      <p:sp>
        <p:nvSpPr>
          <p:cNvPr id="28" name="why box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state-space twin?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30 days of data per patient  ·  explains every alert  ·  handles missing days  ·  gives calibrated probabilities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Architecture: two data streams in, one virtual patient</a:t>
            </a:r>
            <a:endParaRPr lang="en-US" sz="3200" dirty="0"/>
          </a:p>
        </p:txBody>
      </p:sp>
      <p:pic>
        <p:nvPicPr>
          <p:cNvPr id="3" name="architecture" descr="HridAI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80160"/>
            <a:ext cx="9171432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things that make it a real twin</a:t>
            </a:r>
            <a:endParaRPr lang="en-US" sz="3200" dirty="0"/>
          </a:p>
        </p:txBody>
      </p:sp>
      <p:sp>
        <p:nvSpPr>
          <p:cNvPr id="3" name="Twin fidelity card"/>
          <p:cNvSpPr/>
          <p:nvPr/>
        </p:nvSpPr>
        <p:spPr>
          <a:xfrm>
            <a:off x="548640" y="16002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4" name="Twin fidelity circle"/>
          <p:cNvSpPr/>
          <p:nvPr/>
        </p:nvSpPr>
        <p:spPr>
          <a:xfrm>
            <a:off x="914400" y="196596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Twin fide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fidelity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023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night it predicts the readings, then scores how many landed inside its own 95% band.</a:t>
            </a:r>
            <a:endParaRPr lang="en-US" sz="1700" dirty="0"/>
          </a:p>
        </p:txBody>
      </p:sp>
      <p:sp>
        <p:nvSpPr>
          <p:cNvPr id="8" name="Active sensing card"/>
          <p:cNvSpPr/>
          <p:nvPr/>
        </p:nvSpPr>
        <p:spPr>
          <a:xfrm>
            <a:off x="4343400" y="16002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9" name="Active sensing circle"/>
          <p:cNvSpPr/>
          <p:nvPr/>
        </p:nvSpPr>
        <p:spPr>
          <a:xfrm>
            <a:off x="4709160" y="196596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Active sens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258568"/>
            <a:ext cx="603504" cy="6035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sensing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4023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Unsure, rising, and the scale was skipped? It asks the family for a weigh-in.</a:t>
            </a:r>
            <a:endParaRPr lang="en-US" sz="1700" dirty="0"/>
          </a:p>
        </p:txBody>
      </p:sp>
      <p:sp>
        <p:nvSpPr>
          <p:cNvPr id="13" name="What-if card"/>
          <p:cNvSpPr/>
          <p:nvPr/>
        </p:nvSpPr>
        <p:spPr>
          <a:xfrm>
            <a:off x="8138160" y="16002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4" name="What-if circle"/>
          <p:cNvSpPr/>
          <p:nvPr/>
        </p:nvSpPr>
        <p:spPr>
          <a:xfrm>
            <a:off x="8503920" y="196596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What-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2258568"/>
            <a:ext cx="603504" cy="6035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4023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clinician tests a diuretic change on the twin before making it. The twin never acts alone.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doctor's view: a live, working twin</a:t>
            </a:r>
            <a:endParaRPr lang="en-US" sz="3200" dirty="0"/>
          </a:p>
        </p:txBody>
      </p:sp>
      <p:pic>
        <p:nvPicPr>
          <p:cNvPr id="3" name="dashboard screenshot" descr="HridAI Twin Monitor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974336"/>
          </a:xfrm>
          <a:prstGeom prst="rect">
            <a:avLst/>
          </a:prstGeom>
        </p:spPr>
      </p:pic>
      <p:sp>
        <p:nvSpPr>
          <p:cNvPr id="4" name="screenshot frame"/>
          <p:cNvSpPr/>
          <p:nvPr/>
        </p:nvSpPr>
        <p:spPr>
          <a:xfrm>
            <a:off x="548640" y="1325880"/>
            <a:ext cx="7315200" cy="4974336"/>
          </a:xfrm>
          <a:prstGeom prst="rect">
            <a:avLst/>
          </a:prstGeom>
          <a:ln w="12700">
            <a:solidFill>
              <a:srgbClr val="DFE3E8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8229600" y="1463040"/>
            <a:ext cx="201168" cy="20116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any patient day by day</a:t>
            </a:r>
            <a:endParaRPr lang="en-US" sz="1600" dirty="0"/>
          </a:p>
        </p:txBody>
      </p:sp>
      <p:sp>
        <p:nvSpPr>
          <p:cNvPr id="7" name="dot 1"/>
          <p:cNvSpPr/>
          <p:nvPr/>
        </p:nvSpPr>
        <p:spPr>
          <a:xfrm>
            <a:off x="8229600" y="2011680"/>
            <a:ext cx="201168" cy="20116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estimate with uncertainty</a:t>
            </a:r>
            <a:endParaRPr lang="en-US" sz="1600" dirty="0"/>
          </a:p>
        </p:txBody>
      </p:sp>
      <p:sp>
        <p:nvSpPr>
          <p:cNvPr id="9" name="dot 2"/>
          <p:cNvSpPr/>
          <p:nvPr/>
        </p:nvSpPr>
        <p:spPr>
          <a:xfrm>
            <a:off x="8229600" y="2560320"/>
            <a:ext cx="201168" cy="20116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0" y="2468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vs the 2 kg rule</a:t>
            </a:r>
            <a:endParaRPr lang="en-US" sz="1600" dirty="0"/>
          </a:p>
        </p:txBody>
      </p:sp>
      <p:sp>
        <p:nvSpPr>
          <p:cNvPr id="11" name="dot 3"/>
          <p:cNvSpPr/>
          <p:nvPr/>
        </p:nvSpPr>
        <p:spPr>
          <a:xfrm>
            <a:off x="8229600" y="3108960"/>
            <a:ext cx="201168" cy="20116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0" y="3017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sensor trends</a:t>
            </a:r>
            <a:endParaRPr lang="en-US" sz="1600" dirty="0"/>
          </a:p>
        </p:txBody>
      </p:sp>
      <p:sp>
        <p:nvSpPr>
          <p:cNvPr id="13" name="dot 4"/>
          <p:cNvSpPr/>
          <p:nvPr/>
        </p:nvSpPr>
        <p:spPr>
          <a:xfrm>
            <a:off x="8229600" y="3657600"/>
            <a:ext cx="201168" cy="20116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95360" y="3566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treatment panel</a:t>
            </a:r>
            <a:endParaRPr lang="en-US" sz="1600" dirty="0"/>
          </a:p>
        </p:txBody>
      </p:sp>
      <p:sp>
        <p:nvSpPr>
          <p:cNvPr id="15" name="dot 5"/>
          <p:cNvSpPr/>
          <p:nvPr/>
        </p:nvSpPr>
        <p:spPr>
          <a:xfrm>
            <a:off x="8229600" y="4206240"/>
            <a:ext cx="201168" cy="20116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0" y="4114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 family messages</a:t>
            </a:r>
            <a:endParaRPr lang="en-US" sz="1600" dirty="0"/>
          </a:p>
        </p:txBody>
      </p:sp>
      <p:sp>
        <p:nvSpPr>
          <p:cNvPr id="17" name="live button">
            <a:hlinkClick r:id="rId2" tooltip="Open the live dashboard"/>
          </p:cNvPr>
          <p:cNvSpPr/>
          <p:nvPr/>
        </p:nvSpPr>
        <p:spPr>
          <a:xfrm>
            <a:off x="8229600" y="4937760"/>
            <a:ext cx="3383280" cy="822960"/>
          </a:xfrm>
          <a:prstGeom prst="roundRect">
            <a:avLst>
              <a:gd name="adj" fmla="val 13333"/>
            </a:avLst>
          </a:prstGeom>
          <a:solidFill>
            <a:srgbClr val="C8323B"/>
          </a:solidFill>
          <a:ln w="12700">
            <a:solidFill>
              <a:srgbClr val="C8323B"/>
            </a:solidFill>
            <a:prstDash val="solid"/>
          </a:ln>
        </p:spPr>
      </p:sp>
      <p:pic>
        <p:nvPicPr>
          <p:cNvPr id="18" name="Image 1" descr="open l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51663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006840" y="4937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dashboard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5852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browser. No install.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HridAI catches more readmissions, with fewer false alarms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63040"/>
          <a:ext cx="3749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297680" y="1463040"/>
          <a:ext cx="3749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lead card"/>
          <p:cNvSpPr/>
          <p:nvPr/>
        </p:nvSpPr>
        <p:spPr>
          <a:xfrm>
            <a:off x="8321040" y="1554480"/>
            <a:ext cx="3291840" cy="4023360"/>
          </a:xfrm>
          <a:prstGeom prst="roundRect">
            <a:avLst>
              <a:gd name="adj" fmla="val 3333"/>
            </a:avLst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days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warning before readmission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8641080" y="4526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 patients, 89 heart-failure readmissions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 chosen on a separate development cohort. Synthetic data, so real-world performance needs clinical validation.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Every setting beats the rule; fusing streams drives it</a:t>
            </a:r>
            <a:endParaRPr lang="en-US" sz="3200" dirty="0"/>
          </a:p>
        </p:txBody>
      </p:sp>
      <p:pic>
        <p:nvPicPr>
          <p:cNvPr id="3" name="tradeoff" descr="Trade-off curve: twin vs weight r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85216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66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blue dot is a different alert threshold, so a clinic can choose more warning or fewer alarms.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92240" y="137160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test patient: a week of warning the rule never gave</a:t>
            </a:r>
            <a:endParaRPr lang="en-US" sz="3200" dirty="0"/>
          </a:p>
        </p:txBody>
      </p:sp>
      <p:pic>
        <p:nvPicPr>
          <p:cNvPr id="3" name="patient story" descr="Patient tim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589520" cy="5056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16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HridAI alert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3154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23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5394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kg rule fired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Synthetic data, built to be hard on the twin</a:t>
            </a:r>
            <a:endParaRPr lang="en-US" sz="3200" dirty="0"/>
          </a:p>
        </p:txBody>
      </p:sp>
      <p:sp>
        <p:nvSpPr>
          <p:cNvPr id="3" name="Every body differs tile"/>
          <p:cNvSpPr/>
          <p:nvPr/>
        </p:nvSpPr>
        <p:spPr>
          <a:xfrm>
            <a:off x="548640" y="14630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Every body differs circle"/>
          <p:cNvSpPr/>
          <p:nvPr/>
        </p:nvSpPr>
        <p:spPr>
          <a:xfrm>
            <a:off x="822960" y="184708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Every body diff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48256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body differs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responses vary per patient</a:t>
            </a:r>
            <a:endParaRPr lang="en-US" sz="1400" dirty="0"/>
          </a:p>
        </p:txBody>
      </p:sp>
      <p:sp>
        <p:nvSpPr>
          <p:cNvPr id="8" name="Fast crashes tile"/>
          <p:cNvSpPr/>
          <p:nvPr/>
        </p:nvSpPr>
        <p:spPr>
          <a:xfrm>
            <a:off x="4343400" y="14630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Fast crashes circle"/>
          <p:cNvSpPr/>
          <p:nvPr/>
        </p:nvSpPr>
        <p:spPr>
          <a:xfrm>
            <a:off x="4617720" y="184708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Fast crash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04825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crashes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decompensate in 4–5 days</a:t>
            </a:r>
            <a:endParaRPr lang="en-US" sz="1400" dirty="0"/>
          </a:p>
        </p:txBody>
      </p:sp>
      <p:sp>
        <p:nvSpPr>
          <p:cNvPr id="13" name="Salty-meal bumps tile"/>
          <p:cNvSpPr/>
          <p:nvPr/>
        </p:nvSpPr>
        <p:spPr>
          <a:xfrm>
            <a:off x="8138160" y="14630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Salty-meal bumps circle"/>
          <p:cNvSpPr/>
          <p:nvPr/>
        </p:nvSpPr>
        <p:spPr>
          <a:xfrm>
            <a:off x="8412480" y="184708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Salty-meal bum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048256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41832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Salty-meal bumps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941832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spikes that fix themselves</a:t>
            </a:r>
            <a:endParaRPr lang="en-US" sz="1400" dirty="0"/>
          </a:p>
        </p:txBody>
      </p:sp>
      <p:sp>
        <p:nvSpPr>
          <p:cNvPr id="18" name="Scale offsets tile"/>
          <p:cNvSpPr/>
          <p:nvPr/>
        </p:nvSpPr>
        <p:spPr>
          <a:xfrm>
            <a:off x="548640" y="32918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Scale offsets circle"/>
          <p:cNvSpPr/>
          <p:nvPr/>
        </p:nvSpPr>
        <p:spPr>
          <a:xfrm>
            <a:off x="822960" y="367588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Scale offse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77056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82880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offsets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82880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Clothes, different scales</a:t>
            </a:r>
            <a:endParaRPr lang="en-US" sz="1400" dirty="0"/>
          </a:p>
        </p:txBody>
      </p:sp>
      <p:sp>
        <p:nvSpPr>
          <p:cNvPr id="23" name="Missing data tile"/>
          <p:cNvSpPr/>
          <p:nvPr/>
        </p:nvSpPr>
        <p:spPr>
          <a:xfrm>
            <a:off x="4343400" y="32918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Missing data circle"/>
          <p:cNvSpPr/>
          <p:nvPr/>
        </p:nvSpPr>
        <p:spPr>
          <a:xfrm>
            <a:off x="4617720" y="367588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4" descr="Missing dat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877056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62356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62356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weigh-ins, 10% watch nights</a:t>
            </a:r>
            <a:endParaRPr lang="en-US" sz="1400" dirty="0"/>
          </a:p>
        </p:txBody>
      </p:sp>
      <p:sp>
        <p:nvSpPr>
          <p:cNvPr id="28" name="Other readmissions tile"/>
          <p:cNvSpPr/>
          <p:nvPr/>
        </p:nvSpPr>
        <p:spPr>
          <a:xfrm>
            <a:off x="8138160" y="32918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Other readmissions circle"/>
          <p:cNvSpPr/>
          <p:nvPr/>
        </p:nvSpPr>
        <p:spPr>
          <a:xfrm>
            <a:off x="8412480" y="367588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Other readmissio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3877056"/>
            <a:ext cx="420624" cy="4206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41832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readmissions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941832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the twin must not claim</a:t>
            </a:r>
            <a:endParaRPr lang="en-US" sz="1400" dirty="0"/>
          </a:p>
        </p:txBody>
      </p:sp>
      <p:sp>
        <p:nvSpPr>
          <p:cNvPr id="33" name="data strip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6868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EHR: age, sex, EF, eGFR, NT-proBNP, sodium, comorbidities, diuretic dose, prior admissions, polygenic risk   ·   Wearables: 7 nightly / daily signals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Built for Indian homes and clinics</a:t>
            </a:r>
            <a:endParaRPr lang="en-US" sz="3200" dirty="0"/>
          </a:p>
        </p:txBody>
      </p:sp>
      <p:sp>
        <p:nvSpPr>
          <p:cNvPr id="3" name="&lt; ₹5,000 kit circle"/>
          <p:cNvSpPr/>
          <p:nvPr/>
        </p:nvSpPr>
        <p:spPr>
          <a:xfrm>
            <a:off x="548640" y="1463040"/>
            <a:ext cx="1051560" cy="10515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4" name="&lt; ₹5,000 kit icon" descr="&lt; ₹5,000 k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725930"/>
            <a:ext cx="525780" cy="5257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1508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₹5,000 kit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smartwatch + Bluetooth scale, reusable</a:t>
            </a:r>
            <a:endParaRPr lang="en-US" sz="1600" dirty="0"/>
          </a:p>
        </p:txBody>
      </p:sp>
      <p:sp>
        <p:nvSpPr>
          <p:cNvPr id="7" name="ABHA / ABDM circle"/>
          <p:cNvSpPr/>
          <p:nvPr/>
        </p:nvSpPr>
        <p:spPr>
          <a:xfrm>
            <a:off x="548640" y="2926080"/>
            <a:ext cx="1051560" cy="10515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8" name="ABHA / ABDM icon" descr="ABHA / ABD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3188970"/>
            <a:ext cx="525780" cy="5257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971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ABHA / ABDM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3474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and consent on India's health rails</a:t>
            </a:r>
            <a:endParaRPr lang="en-US" sz="1600" dirty="0"/>
          </a:p>
        </p:txBody>
      </p:sp>
      <p:sp>
        <p:nvSpPr>
          <p:cNvPr id="11" name="Indian languages circle"/>
          <p:cNvSpPr/>
          <p:nvPr/>
        </p:nvSpPr>
        <p:spPr>
          <a:xfrm>
            <a:off x="548640" y="4389120"/>
            <a:ext cx="1051560" cy="10515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2" name="Indian languages icon" descr="Indian languag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4652010"/>
            <a:ext cx="525780" cy="5257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828800" y="4434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languages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1828800" y="4937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messages over WhatsApp or SMS</a:t>
            </a:r>
            <a:endParaRPr lang="en-US" sz="1600" dirty="0"/>
          </a:p>
        </p:txBody>
      </p:sp>
      <p:sp>
        <p:nvSpPr>
          <p:cNvPr id="15" name="pilot card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PLAN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675120" y="2240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7955280" y="2240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ward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675120" y="31089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795528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heart-failure discharges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675120" y="3977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7955280" y="3977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monitoring each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675120" y="4846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24" name="Text 19"/>
          <p:cNvSpPr txBox="1"/>
          <p:nvPr/>
        </p:nvSpPr>
        <p:spPr>
          <a:xfrm>
            <a:off x="7955280" y="4846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outcome: 30-day readmissions vs matched controls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pays: hospitals (fewer readmissions), insurers (avoided claims), clinic networks (remote-monitoring service).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prototype does not yet prove, and what comes next</a:t>
            </a:r>
            <a:endParaRPr lang="en-US" sz="3200" dirty="0"/>
          </a:p>
        </p:txBody>
      </p:sp>
      <p:sp>
        <p:nvSpPr>
          <p:cNvPr id="3" name="limits card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DE7E8"/>
          </a:solidFill>
          <a:ln w="12700">
            <a:solidFill>
              <a:srgbClr val="FDE7E8"/>
            </a:solidFill>
            <a:prstDash val="solid"/>
          </a:ln>
        </p:spPr>
      </p:sp>
      <p:sp>
        <p:nvSpPr>
          <p:cNvPr id="4" name="next card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results are optimistic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responses assumed, not fitted to Indian patients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is illustrative, not pharmacology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medical device: needs ethics approval and CDSCO review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860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Synthea FHIR records and open wearable data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each patient's sensor responses online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free-text discharge summaries into the EHR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pilot with a partner hospital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ircle"/>
          <p:cNvSpPr/>
          <p:nvPr/>
        </p:nvSpPr>
        <p:spPr>
          <a:xfrm>
            <a:off x="731520" y="1097280"/>
            <a:ext cx="777240" cy="777240"/>
          </a:xfrm>
          <a:prstGeom prst="ellipse">
            <a:avLst/>
          </a:prstGeom>
          <a:solidFill>
            <a:srgbClr val="C8323B"/>
          </a:solidFill>
          <a:ln w="12700">
            <a:solidFill>
              <a:srgbClr val="C8323B"/>
            </a:solidFill>
            <a:prstDash val="solid"/>
          </a:ln>
        </p:spPr>
      </p:sp>
      <p:pic>
        <p:nvPicPr>
          <p:cNvPr id="3" name="logo icon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291590"/>
            <a:ext cx="388620" cy="3886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See heart failure coming. Act days earlier.</a:t>
            </a:r>
            <a:endParaRPr lang="en-US" sz="6000" dirty="0"/>
          </a:p>
        </p:txBody>
      </p:sp>
      <p:sp>
        <p:nvSpPr>
          <p:cNvPr id="5" name="live button">
            <a:hlinkClick r:id="rId2" tooltip="Open the live dashboard"/>
          </p:cNvPr>
          <p:cNvSpPr/>
          <p:nvPr/>
        </p:nvSpPr>
        <p:spPr>
          <a:xfrm>
            <a:off x="731520" y="4114800"/>
            <a:ext cx="3840480" cy="868680"/>
          </a:xfrm>
          <a:prstGeom prst="roundRect">
            <a:avLst>
              <a:gd name="adj" fmla="val 12632"/>
            </a:avLst>
          </a:prstGeom>
          <a:solidFill>
            <a:srgbClr val="C8323B"/>
          </a:solidFill>
          <a:ln w="12700">
            <a:solidFill>
              <a:srgbClr val="C8323B"/>
            </a:solidFill>
            <a:prstDash val="solid"/>
          </a:ln>
        </p:spPr>
      </p:sp>
      <p:pic>
        <p:nvPicPr>
          <p:cNvPr id="6" name="Image 1" descr="open l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61688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4114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the live twin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Jain  ·  Team Octas  ·  XLRI Jamshedpur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under the MIT licence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ridAI">
  <a:themeElements>
    <a:clrScheme name="HridAI">
      <a:dk1>
        <a:srgbClr val="121A24"/>
      </a:dk1>
      <a:lt1>
        <a:srgbClr val="FFFFFF"/>
      </a:lt1>
      <a:dk2>
        <a:srgbClr val="0F1A2B"/>
      </a:dk2>
      <a:lt2>
        <a:srgbClr val="F3F5F8"/>
      </a:lt2>
      <a:accent1>
        <a:srgbClr val="C8323B"/>
      </a:accent1>
      <a:accent2>
        <a:srgbClr val="2A78D6"/>
      </a:accent2>
      <a:accent3>
        <a:srgbClr val="EB6834"/>
      </a:accent3>
      <a:accent4>
        <a:srgbClr val="14845C"/>
      </a:accent4>
      <a:accent5>
        <a:srgbClr val="6B7684"/>
      </a:accent5>
      <a:accent6>
        <a:srgbClr val="DFE3E8"/>
      </a:accent6>
      <a:hlink>
        <a:srgbClr val="2A78D6"/>
      </a:hlink>
      <a:folHlink>
        <a:srgbClr val="2A78D6"/>
      </a:folHlink>
    </a:clrScheme>
    <a:fontScheme name="Hrid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HridAI</dc:title>
  <dc:subject>Happiest Health Digital Twin Challenge 2026</dc:subject>
  <dc:creator>Aditya Jain, Team Octas, XLRI Jamshedpur</dc:creator>
  <cp:lastModifiedBy>Aditya Jain, Team Octas, XLRI Jamshedpur</cp:lastModifiedBy>
  <cp:revision>1</cp:revision>
  <dcterms:created xsi:type="dcterms:W3CDTF">2026-10-02T19:02:15Z</dcterms:created>
  <dcterms:modified xsi:type="dcterms:W3CDTF">2026-10-02T19:02:15Z</dcterms:modified>
</cp:coreProperties>
</file>